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4" r:id="rId17"/>
    <p:sldId id="270" r:id="rId18"/>
    <p:sldId id="277" r:id="rId19"/>
    <p:sldId id="279" r:id="rId20"/>
    <p:sldId id="278" r:id="rId21"/>
    <p:sldId id="276" r:id="rId22"/>
    <p:sldId id="273" r:id="rId23"/>
  </p:sldIdLst>
  <p:sldSz cx="12192000" cy="6858000"/>
  <p:notesSz cx="6858000" cy="9144000"/>
  <p:embeddedFontLst>
    <p:embeddedFont>
      <p:font typeface="Arial Narrow" panose="020B0606020202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862" y="7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68791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latin typeface="Arial Narrow"/>
                <a:ea typeface="Arial Narrow"/>
                <a:cs typeface="Arial Narrow"/>
                <a:sym typeface="Arial Narrow"/>
              </a:rPr>
              <a:t>CYCLE 2 REVIEW PRESENTATION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No: 01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29.10.2025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Session: FN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307910"/>
            <a:ext cx="12119100" cy="821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NATURAL LANGUAGE TO SQL DATA 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4730701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Ms. V. Sowmiya, M.E.,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7386833" y="3631450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M.Kishore (81172210478)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PL.Nachiappan (811722104097)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R.Raseen raja (811722104305)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410547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1537607"/>
            <a:ext cx="10423849" cy="4545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 algn="just">
              <a:spcBef>
                <a:spcPts val="0"/>
              </a:spcBef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GB" sz="2400" dirty="0">
                <a:latin typeface="Arial Narrow"/>
                <a:ea typeface="Arial Narrow"/>
                <a:cs typeface="Arial Narrow"/>
                <a:sym typeface="Arial Narrow"/>
              </a:rPr>
              <a:t>To abstract the underlying complexity of database systems into an intuitive and simplified interaction model.</a:t>
            </a:r>
          </a:p>
          <a:p>
            <a:pPr indent="-457200" algn="just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endParaRPr lang="en-GB"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-457200" algn="just">
              <a:spcBef>
                <a:spcPts val="0"/>
              </a:spcBef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GB" sz="2400" dirty="0">
                <a:latin typeface="Arial Narrow"/>
                <a:ea typeface="Arial Narrow"/>
                <a:cs typeface="Arial Narrow"/>
                <a:sym typeface="Arial Narrow"/>
              </a:rPr>
              <a:t>To leverage Natural Language to SQL (NL2SQL) techniques for enabling seamless query formulation by non-technical end-users.</a:t>
            </a:r>
          </a:p>
          <a:p>
            <a:pPr indent="-457200" algn="just">
              <a:spcBef>
                <a:spcPts val="0"/>
              </a:spcBef>
              <a:buClr>
                <a:schemeClr val="tx1"/>
              </a:buClr>
              <a:buSzPct val="100000"/>
              <a:buFont typeface="+mj-lt"/>
              <a:buAutoNum type="arabicPeriod"/>
            </a:pPr>
            <a:endParaRPr lang="en-GB"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-457200" algn="just">
              <a:spcBef>
                <a:spcPts val="0"/>
              </a:spcBef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GB" sz="2400" dirty="0">
                <a:latin typeface="Arial Narrow"/>
                <a:ea typeface="Arial Narrow"/>
                <a:cs typeface="Arial Narrow"/>
                <a:sym typeface="Arial Narrow"/>
              </a:rPr>
              <a:t>To democratize data access by empowering users without technical expertise to retrieve, interpret, and utilize data-driven insights.</a:t>
            </a:r>
          </a:p>
          <a:p>
            <a:pPr indent="-457200" algn="just">
              <a:spcBef>
                <a:spcPts val="0"/>
              </a:spcBef>
              <a:buClr>
                <a:schemeClr val="tx1"/>
              </a:buClr>
              <a:buSzPct val="100000"/>
              <a:buFont typeface="+mj-lt"/>
              <a:buAutoNum type="arabicPeriod"/>
            </a:pPr>
            <a:endParaRPr lang="en-GB"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-457200" algn="just">
              <a:spcBef>
                <a:spcPts val="0"/>
              </a:spcBef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GB" sz="2400" dirty="0">
                <a:latin typeface="Arial Narrow"/>
                <a:ea typeface="Arial Narrow"/>
                <a:cs typeface="Arial Narrow"/>
                <a:sym typeface="Arial Narrow"/>
              </a:rPr>
              <a:t>To enhance usability and efficiency in database interaction through natural language processing–driven query generation.</a:t>
            </a:r>
          </a:p>
          <a:p>
            <a:pPr indent="-457200" algn="just">
              <a:spcBef>
                <a:spcPts val="0"/>
              </a:spcBef>
              <a:buClr>
                <a:schemeClr val="tx1"/>
              </a:buClr>
              <a:buSzPct val="100000"/>
              <a:buFont typeface="+mj-lt"/>
              <a:buAutoNum type="arabicPeriod"/>
            </a:pPr>
            <a:endParaRPr lang="en-GB"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-457200" algn="just">
              <a:spcBef>
                <a:spcPts val="0"/>
              </a:spcBef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GB" sz="2400" dirty="0">
                <a:latin typeface="Arial Narrow"/>
                <a:ea typeface="Arial Narrow"/>
                <a:cs typeface="Arial Narrow"/>
                <a:sym typeface="Arial Narrow"/>
              </a:rPr>
              <a:t>To transform raw database records into structured, actionable information, facilitating improved comprehension and analytical decision-making.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sz="24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242596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925434" y="1290616"/>
            <a:ext cx="10515600" cy="5065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</a:rPr>
              <a:t>Database interactions can be made more intuitive and user-friendly through abstraction.</a:t>
            </a:r>
          </a:p>
          <a:p>
            <a:pPr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endParaRPr lang="en-GB" sz="2400" dirty="0">
              <a:latin typeface="Arial Narrow" panose="020B0606020202030204" pitchFamily="34" charset="0"/>
            </a:endParaRPr>
          </a:p>
          <a:p>
            <a:pPr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</a:rPr>
              <a:t>Natural language processing can bridge the gap between non-technical users and complex SQL queries.</a:t>
            </a:r>
          </a:p>
          <a:p>
            <a:pPr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endParaRPr lang="en-GB" sz="2400" dirty="0">
              <a:latin typeface="Arial Narrow" panose="020B0606020202030204" pitchFamily="34" charset="0"/>
            </a:endParaRPr>
          </a:p>
          <a:p>
            <a:pPr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</a:rPr>
              <a:t>Simplifying database interactions can empower non-technical users to extract insights and make data-driven decisions.</a:t>
            </a:r>
          </a:p>
          <a:p>
            <a:pPr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endParaRPr lang="en-GB" sz="2400" dirty="0">
              <a:latin typeface="Arial Narrow" panose="020B0606020202030204" pitchFamily="34" charset="0"/>
            </a:endParaRPr>
          </a:p>
          <a:p>
            <a:pPr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</a:rPr>
              <a:t>Complex databases can be distilled into actionable information, making it easier to understand and analyze data.</a:t>
            </a:r>
          </a:p>
          <a:p>
            <a:pPr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endParaRPr lang="en-GB" sz="2400" dirty="0">
              <a:latin typeface="Arial Narrow" panose="020B0606020202030204" pitchFamily="34" charset="0"/>
            </a:endParaRPr>
          </a:p>
          <a:p>
            <a:pPr lvl="0" indent="-4572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</a:rPr>
              <a:t>By combining natural language processing with database abstraction, we can create a more accessible and efficient data interaction experience. </a:t>
            </a:r>
            <a:endParaRPr sz="1400" dirty="0">
              <a:latin typeface="Arial Narrow" panose="020B0606020202030204" pitchFamily="34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1687392656"/>
              </p:ext>
            </p:extLst>
          </p:nvPr>
        </p:nvGraphicFramePr>
        <p:xfrm>
          <a:off x="68855" y="624587"/>
          <a:ext cx="11976965" cy="5982587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297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3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5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89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DRAWBACKS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727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Arial Narrow" panose="020B0606020202030204" pitchFamily="34" charset="0"/>
                        </a:rPr>
                        <a:t>Natural Language to SQL: Review of LLM-based Text-to-SQL Systems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Ali Mohammadjafari,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Anthony S. Maida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Calibri"/>
                          <a:cs typeface="Calibri"/>
                          <a:sym typeface="Arial"/>
                        </a:rPr>
                        <a:t>Seq2SQL</a:t>
                      </a:r>
                      <a:r>
                        <a:rPr lang="en-GB" sz="1600" u="none" strike="noStrike" cap="none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Calibri"/>
                          <a:cs typeface="Calibri"/>
                          <a:sym typeface="Arial"/>
                        </a:rPr>
                        <a:t> Algorithm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Heavy reliance on LLMs;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performance depends on model size and training data.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68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Arial Narrow" panose="020B0606020202030204" pitchFamily="34" charset="0"/>
                        </a:rPr>
                        <a:t>Making SQL Easier to Infer from Natural Language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Yujian Gan, Xinyun Chen, Jinxia Xie, Matthew Purver, John R. Woodward, John Drake, Qiaofu Zhang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Arial Narrow" panose="020B0606020202030204" pitchFamily="34" charset="0"/>
                        </a:rPr>
                        <a:t>NatSQL (a simplified SQL intermediate representation)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Performance highly depends on mapping accuracy from natural language to NatSQL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53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Arial Narrow" panose="020B0606020202030204" pitchFamily="34" charset="0"/>
                        </a:rPr>
                        <a:t>Natural language to SQL: Where are we today?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latin typeface="Arial Narrow" panose="020B0606020202030204" pitchFamily="34" charset="0"/>
                        </a:rPr>
                        <a:t>Hyeonji Kim, Byeong-Hoon So, Wook-Shin Han, Hongrae Lee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Arial Narrow" panose="020B0606020202030204" pitchFamily="34" charset="0"/>
                        </a:rPr>
                        <a:t>Comprehensive survey and taxonomy of NL2SQL methods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Being a survey, it does not propose a novel solution but summarizes existing work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807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Natural Language to SQL Queries Generation using NLP Techniques</a:t>
                      </a:r>
                      <a:endParaRPr lang="en-US"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Mohammed Osama Shaikh, Fiza Shaikh, Dr. Irfan Landge</a:t>
                      </a:r>
                      <a:endParaRPr lang="en-US"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Arial Narrow" panose="020B0606020202030204" pitchFamily="34" charset="0"/>
                        </a:rPr>
                        <a:t>Focused on English-to-SQL translation for relational databases</a:t>
                      </a:r>
                      <a:endParaRPr lang="en-GB"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Less emphasis on execution accuracy; more on syntactic query generation.</a:t>
                      </a:r>
                      <a:endParaRPr lang="en-GB"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84881"/>
              </p:ext>
            </p:extLst>
          </p:nvPr>
        </p:nvGraphicFramePr>
        <p:xfrm>
          <a:off x="91751" y="521111"/>
          <a:ext cx="12019384" cy="5722373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2979686">
                  <a:extLst>
                    <a:ext uri="{9D8B030D-6E8A-4147-A177-3AD203B41FA5}">
                      <a16:colId xmlns:a16="http://schemas.microsoft.com/office/drawing/2014/main" val="4109769796"/>
                    </a:ext>
                  </a:extLst>
                </a:gridCol>
                <a:gridCol w="2979686">
                  <a:extLst>
                    <a:ext uri="{9D8B030D-6E8A-4147-A177-3AD203B41FA5}">
                      <a16:colId xmlns:a16="http://schemas.microsoft.com/office/drawing/2014/main" val="1394041478"/>
                    </a:ext>
                  </a:extLst>
                </a:gridCol>
                <a:gridCol w="2979686">
                  <a:extLst>
                    <a:ext uri="{9D8B030D-6E8A-4147-A177-3AD203B41FA5}">
                      <a16:colId xmlns:a16="http://schemas.microsoft.com/office/drawing/2014/main" val="1066279656"/>
                    </a:ext>
                  </a:extLst>
                </a:gridCol>
                <a:gridCol w="3080326">
                  <a:extLst>
                    <a:ext uri="{9D8B030D-6E8A-4147-A177-3AD203B41FA5}">
                      <a16:colId xmlns:a16="http://schemas.microsoft.com/office/drawing/2014/main" val="1641293245"/>
                    </a:ext>
                  </a:extLst>
                </a:gridCol>
              </a:tblGrid>
              <a:tr h="79470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TITLE </a:t>
                      </a:r>
                      <a:endParaRPr sz="2400" b="1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AUTHORS</a:t>
                      </a:r>
                      <a:endParaRPr sz="2400" b="1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TECHNOLOGY</a:t>
                      </a:r>
                      <a:r>
                        <a:rPr lang="en-GB" sz="2400" b="1" u="none" strike="noStrike" cap="none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USED</a:t>
                      </a:r>
                      <a:endParaRPr sz="2400" b="1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DRAWBACKS</a:t>
                      </a:r>
                      <a:endParaRPr sz="2400" b="1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535808721"/>
                  </a:ext>
                </a:extLst>
              </a:tr>
              <a:tr h="163464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Seq2SQL: Generating Structured Queries from Natural Language using Reinforcement Learning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Victor Zhong, Caiming Xiong, Richard Socher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Seq2Seq with pointer network; SQL-specific sketch; execution-guided policy-gradient RL to handle unordered SQL parts; trained on WikiSQL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Reinforcement learning adds training complexity and instability.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581797651"/>
                  </a:ext>
                </a:extLst>
              </a:tr>
              <a:tr h="16465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RAT-SQL: Relation-Aware Schema Encoding and Linking for Text-to-SQL Parsers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Bailin Wang, Richard Shin, Xiaodong Liu, Oleksandr Polozov, Matthew Richardson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Relation-aware self-attention (Transformer) over question + DB schema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Requires large computational resources for training/inference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356990753"/>
                  </a:ext>
                </a:extLst>
              </a:tr>
              <a:tr h="16465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Making SQL Easier to Infer from Natural Language</a:t>
                      </a:r>
                      <a:endParaRPr lang="en-GB"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Yujian Gan, Xinyun Chen, Jinxia Xie, Matthew Purver, John R. Woodward, John Drake, Qiaofu Zhang</a:t>
                      </a:r>
                      <a:endParaRPr lang="en-US"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Compatible with Spider benchmark</a:t>
                      </a:r>
                      <a:endParaRPr lang="en-US"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While NatSQL simplifies SQL generation, it reduces expressive power for handling advanced SQL constructs.</a:t>
                      </a:r>
                      <a:endParaRPr lang="en-GB" sz="16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6400044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A4EE8D7-BA7F-A2E8-0A65-19842E5D1304}"/>
              </a:ext>
            </a:extLst>
          </p:cNvPr>
          <p:cNvSpPr txBox="1"/>
          <p:nvPr/>
        </p:nvSpPr>
        <p:spPr>
          <a:xfrm>
            <a:off x="3048000" y="-8224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lang="en-US" sz="40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93784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53600" y="187851"/>
            <a:ext cx="12345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SYSTEM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60" y="1609724"/>
            <a:ext cx="1214120" cy="12141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990" y="1455737"/>
            <a:ext cx="1461135" cy="14611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238" y="1426526"/>
            <a:ext cx="1420515" cy="14903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679" y="4498340"/>
            <a:ext cx="1417433" cy="14833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1" t="8551" r="12451" b="10510"/>
          <a:stretch/>
        </p:blipFill>
        <p:spPr>
          <a:xfrm>
            <a:off x="4711664" y="4498340"/>
            <a:ext cx="1461135" cy="1574800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stCxn id="4" idx="3"/>
            <a:endCxn id="6" idx="1"/>
          </p:cNvCxnSpPr>
          <p:nvPr/>
        </p:nvCxnSpPr>
        <p:spPr>
          <a:xfrm flipV="1">
            <a:off x="2100580" y="2186305"/>
            <a:ext cx="2772410" cy="304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3"/>
            <a:endCxn id="7" idx="1"/>
          </p:cNvCxnSpPr>
          <p:nvPr/>
        </p:nvCxnSpPr>
        <p:spPr>
          <a:xfrm flipV="1">
            <a:off x="6334125" y="2171699"/>
            <a:ext cx="2875113" cy="146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8" idx="0"/>
          </p:cNvCxnSpPr>
          <p:nvPr/>
        </p:nvCxnSpPr>
        <p:spPr>
          <a:xfrm>
            <a:off x="9919496" y="2916872"/>
            <a:ext cx="5900" cy="15814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1"/>
            <a:endCxn id="9" idx="3"/>
          </p:cNvCxnSpPr>
          <p:nvPr/>
        </p:nvCxnSpPr>
        <p:spPr>
          <a:xfrm flipH="1">
            <a:off x="6172799" y="5240020"/>
            <a:ext cx="3043880" cy="457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8915" y="3085663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Engineer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37381" y="3085662"/>
            <a:ext cx="1489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SQL Connective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0243" y="982541"/>
            <a:ext cx="1489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SQL Workspace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3367" y="607314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20005" y="225274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56" y="1789509"/>
            <a:ext cx="1008348" cy="1008348"/>
          </a:xfrm>
          <a:prstGeom prst="rect">
            <a:avLst/>
          </a:prstGeom>
        </p:spPr>
      </p:pic>
      <p:pic>
        <p:nvPicPr>
          <p:cNvPr id="6" name="Content Placeholder 8" descr="A diagram of a computer system"/>
          <p:cNvPicPr>
            <a:picLocks/>
          </p:cNvPicPr>
          <p:nvPr/>
        </p:nvPicPr>
        <p:blipFill rotWithShape="1">
          <a:blip r:embed="rId4"/>
          <a:srcRect l="396" t="21487" r="90161" b="56793"/>
          <a:stretch/>
        </p:blipFill>
        <p:spPr>
          <a:xfrm>
            <a:off x="3955247" y="1723544"/>
            <a:ext cx="926641" cy="11402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637" y="4055877"/>
            <a:ext cx="2234941" cy="22349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542" y="1824586"/>
            <a:ext cx="2730420" cy="9419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254" y="4232361"/>
            <a:ext cx="1775443" cy="18627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1" t="8975" r="20666" b="11141"/>
          <a:stretch/>
        </p:blipFill>
        <p:spPr>
          <a:xfrm>
            <a:off x="2009161" y="4353420"/>
            <a:ext cx="1221057" cy="1639855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>
          <a:xfrm>
            <a:off x="1740804" y="2293683"/>
            <a:ext cx="221444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</p:cNvCxnSpPr>
          <p:nvPr/>
        </p:nvCxnSpPr>
        <p:spPr>
          <a:xfrm>
            <a:off x="4881888" y="2293683"/>
            <a:ext cx="196708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1"/>
          </p:cNvCxnSpPr>
          <p:nvPr/>
        </p:nvCxnSpPr>
        <p:spPr>
          <a:xfrm>
            <a:off x="8102369" y="2293683"/>
            <a:ext cx="1394173" cy="19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0861752" y="2797857"/>
            <a:ext cx="3634" cy="12580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4" idx="1"/>
            <a:endCxn id="8" idx="3"/>
          </p:cNvCxnSpPr>
          <p:nvPr/>
        </p:nvCxnSpPr>
        <p:spPr>
          <a:xfrm flipH="1" flipV="1">
            <a:off x="7736697" y="5163722"/>
            <a:ext cx="1928940" cy="96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8" idx="1"/>
            <a:endCxn id="9" idx="3"/>
          </p:cNvCxnSpPr>
          <p:nvPr/>
        </p:nvCxnSpPr>
        <p:spPr>
          <a:xfrm flipH="1">
            <a:off x="3230218" y="5163722"/>
            <a:ext cx="2731036" cy="96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04661" y="1789509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2050" y="1862297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1518" y="3168126"/>
            <a:ext cx="14251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Deliver to</a:t>
            </a:r>
          </a:p>
          <a:p>
            <a:pPr algn="ctr"/>
            <a:r>
              <a:rPr lang="en-IN" dirty="0"/>
              <a:t>appropriate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0969" y="4711147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Query Generated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5117" y="4711147"/>
            <a:ext cx="1806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from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4326" y="1833278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Input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975" y="1723544"/>
            <a:ext cx="1232674" cy="123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09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279918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75563" y="2558620"/>
            <a:ext cx="5720976" cy="38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1.Processor        : i5 processor 2.6.0 GHZ</a:t>
            </a:r>
            <a:endParaRPr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2. RAM               : 8GB</a:t>
            </a:r>
            <a:endParaRPr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3. Hard Disk       : Min 128GB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GB" sz="2400" dirty="0">
                <a:latin typeface="Arial Narrow"/>
                <a:ea typeface="Arial Narrow"/>
                <a:cs typeface="Arial Narrow"/>
                <a:sym typeface="Arial Narrow"/>
              </a:rPr>
              <a:t>4. Keyboard        : standard keyboard</a:t>
            </a:r>
            <a:endParaRPr sz="24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938031" y="2539370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1. Ollama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2. VS Code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3. Python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4. streamlit</a:t>
            </a:r>
            <a:endParaRPr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308746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352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  <a:sym typeface="Times New Roman"/>
              </a:rPr>
              <a:t>1. Data base module
2. User interface module
3. Analyze module
4. NLP to SQL module
5. Perform CRUD module</a:t>
            </a:r>
            <a:endParaRPr sz="2400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392548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Database Module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38200" y="1138335"/>
            <a:ext cx="10515600" cy="5038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
</a:t>
            </a: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Data storage and retrieval
2. Ensures data integrity and security
3. Supports scalable data management
4. Optimizes query performance</a:t>
            </a:r>
          </a:p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5. Handles data backup and recovery</a:t>
            </a: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
</a:t>
            </a: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838200" y="1278294"/>
            <a:ext cx="10515600" cy="4898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  <a:sym typeface="Times New Roman"/>
              </a:rPr>
              <a:t>1. Intuitive and user-friendly design
2. Supports multiple user roles and access levels
3. Provides real-time feedback and updates
4. Customizable to meet specific user needs
5. Accessible on various devices and platforms.</a:t>
            </a:r>
            <a:r>
              <a:rPr lang="en-US" dirty="0">
                <a:latin typeface="Arial Narrow" panose="020B0606020202030204" pitchFamily="34" charset="0"/>
                <a:sym typeface="Times New Roman"/>
              </a:rPr>
              <a:t>
</a:t>
            </a: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53250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 panose="020B0606020202030204" pitchFamily="34" charset="0"/>
                <a:sym typeface="Times New Roman"/>
              </a:rPr>
              <a:t>2. User Interface Module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838200" y="1446245"/>
            <a:ext cx="10515600" cy="4730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400" dirty="0">
                <a:latin typeface="Arial Narrow" panose="020B0606020202030204" pitchFamily="34" charset="0"/>
                <a:sym typeface="Times New Roman"/>
              </a:rPr>
              <a:t>The NLP is being processes and breaks down into tokens</a:t>
            </a:r>
          </a:p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 sz="2400" dirty="0">
                <a:latin typeface="Arial Narrow" panose="020B0606020202030204" pitchFamily="34" charset="0"/>
                <a:sym typeface="Times New Roman"/>
              </a:rPr>
              <a:t>These Tokens are further check into dictionary called vocab</a:t>
            </a:r>
          </a:p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 sz="2400" dirty="0">
                <a:latin typeface="Arial Narrow" panose="020B0606020202030204" pitchFamily="34" charset="0"/>
                <a:sym typeface="Times New Roman"/>
              </a:rPr>
              <a:t>Finally it will use Vector embedding to check word.</a:t>
            </a:r>
          </a:p>
          <a:p>
            <a:pPr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sym typeface="Times New Roman"/>
              </a:rPr>
              <a:t>In short this entire module is named as RAG(Retrieval Augmented Generation).  </a:t>
            </a:r>
            <a:endParaRPr lang="en-US" sz="2400" dirty="0">
              <a:latin typeface="Arial Narrow" panose="020B0606020202030204" pitchFamily="34" charset="0"/>
              <a:sym typeface="Times New Roman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506952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 panose="020B0606020202030204" pitchFamily="34" charset="0"/>
                <a:sym typeface="Times New Roman"/>
              </a:rPr>
              <a:t>3. Analyze Module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838200" y="1595535"/>
            <a:ext cx="10515600" cy="4581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</a:rPr>
              <a:t>1. Translates natural language queries to SQL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</a:rPr>
              <a:t>2. Supports multiple natural languages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</a:rPr>
              <a:t>3. Handles complex queries and subqueries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</a:rPr>
              <a:t>4. Continuously learns and improves query accuracy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</a:rPr>
              <a:t>5. Enables non-technical users to interact with the database.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429208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 panose="020B0606020202030204" pitchFamily="34" charset="0"/>
              </a:rPr>
              <a:t>4.NLP to SQL Module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838200" y="152704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</a:rPr>
              <a:t>1. Create: Adds new data to the database
2. Read: Retrieves and displays existing data
3. Update: Modifies existing data
4. Delete: Removes data from the database.</a:t>
            </a:r>
            <a:r>
              <a:rPr lang="en-US" dirty="0">
                <a:latin typeface="Arial Narrow" panose="020B0606020202030204" pitchFamily="34" charset="0"/>
              </a:rPr>
              <a:t>
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504774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 panose="020B0606020202030204" pitchFamily="34" charset="0"/>
              </a:rPr>
              <a:t>5. CRUD Module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253157"/>
            <a:ext cx="10515600" cy="829193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Arial Narrow" panose="020B0606020202030204" pitchFamily="34" charset="0"/>
              </a:rPr>
              <a:t>TECHNOLOGY USED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B9844A-17B4-C154-6DA3-E9948CD91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6FC6E5-50B0-2B37-0F0A-52FF737916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73" b="7748"/>
          <a:stretch>
            <a:fillRect/>
          </a:stretch>
        </p:blipFill>
        <p:spPr>
          <a:xfrm>
            <a:off x="340932" y="1084610"/>
            <a:ext cx="11510135" cy="552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62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91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MODULES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156996"/>
            <a:ext cx="10515600" cy="5019967"/>
          </a:xfrm>
        </p:spPr>
        <p:txBody>
          <a:bodyPr>
            <a:normAutofit fontScale="85000" lnSpcReduction="10000"/>
          </a:bodyPr>
          <a:lstStyle/>
          <a:p>
            <a:pPr marL="571500" indent="-4572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2400" b="1" dirty="0">
                <a:latin typeface="Arial Narrow" panose="020B0606020202030204" pitchFamily="34" charset="0"/>
              </a:rPr>
              <a:t>Database Module </a:t>
            </a:r>
            <a:r>
              <a:rPr lang="en-US" sz="2400" dirty="0">
                <a:latin typeface="Arial Narrow" panose="020B0606020202030204" pitchFamily="34" charset="0"/>
              </a:rPr>
              <a:t>– Stores project data in an SQL database and is accessed through Python using SQLAlchemy for efficient query execution.</a:t>
            </a:r>
          </a:p>
          <a:p>
            <a:pPr marL="571500" indent="-4572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2400" b="1" dirty="0">
                <a:latin typeface="Arial Narrow" panose="020B0606020202030204" pitchFamily="34" charset="0"/>
              </a:rPr>
              <a:t>User Interface Module </a:t>
            </a:r>
            <a:r>
              <a:rPr lang="en-US" sz="2400" dirty="0">
                <a:latin typeface="Arial Narrow" panose="020B0606020202030204" pitchFamily="34" charset="0"/>
              </a:rPr>
              <a:t>– Built with HTML/CSS/JS (or React) to take natural language input from users and display retrieved results.</a:t>
            </a:r>
          </a:p>
          <a:p>
            <a:pPr marL="571500" indent="-4572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2400" b="1" dirty="0">
                <a:latin typeface="Arial Narrow" panose="020B0606020202030204" pitchFamily="34" charset="0"/>
              </a:rPr>
              <a:t>Analyze Module </a:t>
            </a:r>
            <a:r>
              <a:rPr lang="en-US" sz="2400" dirty="0">
                <a:latin typeface="Arial Narrow" panose="020B0606020202030204" pitchFamily="34" charset="0"/>
              </a:rPr>
              <a:t>– Processes user input in Python, validates queries, and manages communication between UI, OLLAMA, and the database.</a:t>
            </a:r>
          </a:p>
          <a:p>
            <a:pPr marL="571500" indent="-4572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2400" b="1" dirty="0">
                <a:latin typeface="Arial Narrow" panose="020B0606020202030204" pitchFamily="34" charset="0"/>
              </a:rPr>
              <a:t>NLP to SQL Module </a:t>
            </a:r>
            <a:r>
              <a:rPr lang="en-US" sz="2400" dirty="0">
                <a:latin typeface="Arial Narrow" panose="020B0606020202030204" pitchFamily="34" charset="0"/>
              </a:rPr>
              <a:t>– Uses the OLLAMA API to convert natural language queries into structured SQL commands.</a:t>
            </a:r>
          </a:p>
          <a:p>
            <a:pPr marL="571500" indent="-457200">
              <a:lnSpc>
                <a:spcPct val="150000"/>
              </a:lnSpc>
              <a:buSzPct val="90000"/>
              <a:buFont typeface="+mj-lt"/>
              <a:buAutoNum type="arabicPeriod"/>
            </a:pPr>
            <a:r>
              <a:rPr lang="en-US" sz="2400" b="1" dirty="0">
                <a:latin typeface="Arial Narrow" panose="020B0606020202030204" pitchFamily="34" charset="0"/>
              </a:rPr>
              <a:t>Perform CRUD Module </a:t>
            </a:r>
            <a:r>
              <a:rPr lang="en-US" sz="2400" dirty="0">
                <a:latin typeface="Arial Narrow" panose="020B0606020202030204" pitchFamily="34" charset="0"/>
              </a:rPr>
              <a:t>– Executes Create, Read, Update, and Delete operations on the database and returns results to the user.</a:t>
            </a:r>
          </a:p>
        </p:txBody>
      </p:sp>
      <p:sp>
        <p:nvSpPr>
          <p:cNvPr id="189" name="Google Shape;189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/>
              <a:t>17</a:t>
            </a:fld>
            <a:endParaRPr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243"/>
          </a:xfrm>
        </p:spPr>
        <p:txBody>
          <a:bodyPr/>
          <a:lstStyle/>
          <a:p>
            <a:pPr algn="just"/>
            <a:r>
              <a:rPr lang="en-GB" b="1" dirty="0">
                <a:latin typeface="Arial Narrow" panose="020B0606020202030204" pitchFamily="34" charset="0"/>
              </a:rPr>
              <a:t>IMPLEMENTATION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121" y="1375325"/>
            <a:ext cx="5405758" cy="529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49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592DE-D28D-0306-5359-A85EC0255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10B1FB-3342-E061-C83A-62CF02D83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pPr algn="just"/>
            <a:r>
              <a:rPr lang="en-GB" b="1" dirty="0">
                <a:latin typeface="Arial Narrow" panose="020B0606020202030204" pitchFamily="34" charset="0"/>
              </a:rPr>
              <a:t>IMPLEMENTATION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3786AE-B35B-5239-C6ED-ACDD9BDEC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259" y="1375325"/>
            <a:ext cx="6102220" cy="529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09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 Narrow" panose="020B0606020202030204" pitchFamily="34" charset="0"/>
              </a:rPr>
              <a:t>OUTPUT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B9CC81A-0029-75B2-C18C-1EF4550BEB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306171"/>
              </p:ext>
            </p:extLst>
          </p:nvPr>
        </p:nvGraphicFramePr>
        <p:xfrm>
          <a:off x="3579878" y="1338606"/>
          <a:ext cx="6402322" cy="6808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829194" imgH="7543659" progId="AcroExch.Document.7">
                  <p:embed/>
                </p:oleObj>
              </mc:Choice>
              <mc:Fallback>
                <p:oleObj name="Acrobat Document" r:id="rId2" imgW="5829194" imgH="7543659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79878" y="1338606"/>
                        <a:ext cx="6402322" cy="6808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9190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96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>
                <a:latin typeface="Arial Narrow" panose="020B0606020202030204" pitchFamily="34" charset="0"/>
              </a:rPr>
              <a:t>REFERENCES</a:t>
            </a:r>
            <a:endParaRPr lang="en-US" sz="3600" b="1" dirty="0">
              <a:latin typeface="Arial Narrow" panose="020B0606020202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8200" y="821094"/>
            <a:ext cx="10515600" cy="5246006"/>
          </a:xfrm>
        </p:spPr>
        <p:txBody>
          <a:bodyPr>
            <a:noAutofit/>
          </a:bodyPr>
          <a:lstStyle/>
          <a:p>
            <a:pPr marL="571500" indent="-457200" algn="just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en-US" sz="1400" dirty="0">
                <a:latin typeface="Arial Narrow" panose="020B0606020202030204" pitchFamily="34" charset="0"/>
              </a:rPr>
              <a:t>Ali Mohammadjafari, Anthony S. Maida, </a:t>
            </a:r>
            <a:r>
              <a:rPr lang="en-US" sz="1400" b="1" dirty="0">
                <a:latin typeface="Arial Narrow" panose="020B0606020202030204" pitchFamily="34" charset="0"/>
              </a:rPr>
              <a:t>“Natural Language to SQL: Review of LLM-based Text-to-SQL Systems,”</a:t>
            </a:r>
            <a:r>
              <a:rPr lang="en-US" sz="1400" dirty="0">
                <a:latin typeface="Arial Narrow" panose="020B0606020202030204" pitchFamily="34" charset="0"/>
              </a:rPr>
              <a:t> arXiv preprint, February 2025.</a:t>
            </a:r>
          </a:p>
          <a:p>
            <a:pPr marL="571500" indent="-457200" algn="just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en-US" sz="1400" dirty="0">
                <a:latin typeface="Arial Narrow" panose="020B0606020202030204" pitchFamily="34" charset="0"/>
              </a:rPr>
              <a:t>Mohammed Osama Shaikh, Fiza Shaikh, Irfan Landge, </a:t>
            </a:r>
            <a:r>
              <a:rPr lang="en-US" sz="1400" b="1" dirty="0">
                <a:latin typeface="Arial Narrow" panose="020B0606020202030204" pitchFamily="34" charset="0"/>
              </a:rPr>
              <a:t>“Natural Language to SQL Queries Generation using NLP Techniques,”</a:t>
            </a:r>
            <a:r>
              <a:rPr lang="en-US" sz="1400" dirty="0">
                <a:latin typeface="Arial Narrow" panose="020B0606020202030204" pitchFamily="34" charset="0"/>
              </a:rPr>
              <a:t> International Journal of Advanced Research in Science, Communication and Technology (IJARSCT), Volume 4, Issue 7, April 2024.</a:t>
            </a:r>
          </a:p>
          <a:p>
            <a:pPr marL="571500" indent="-457200" algn="just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en-US" sz="1400" dirty="0">
                <a:latin typeface="Arial Narrow" panose="020B0606020202030204" pitchFamily="34" charset="0"/>
              </a:rPr>
              <a:t>Jiaxi Yang, Binyuan Hui, Min Yang, Jian Yang, Junyang Lin, Chang Zhou: </a:t>
            </a:r>
            <a:r>
              <a:rPr lang="en-US" sz="1400" b="1" dirty="0">
                <a:latin typeface="Arial Narrow" panose="020B0606020202030204" pitchFamily="34" charset="0"/>
              </a:rPr>
              <a:t>“Synthesizing Text-to-SQL Data from Weak and Strong LLMs”</a:t>
            </a:r>
            <a:r>
              <a:rPr lang="en-US" sz="1400" dirty="0">
                <a:latin typeface="Arial Narrow" panose="020B0606020202030204" pitchFamily="34" charset="0"/>
              </a:rPr>
              <a:t>, ACL 2024.</a:t>
            </a:r>
          </a:p>
          <a:p>
            <a:pPr marL="571500" indent="-457200" algn="just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en-US" sz="1400" dirty="0">
                <a:latin typeface="Arial Narrow" panose="020B0606020202030204" pitchFamily="34" charset="0"/>
              </a:rPr>
              <a:t>Ruoxi Sun, Sercan Ö. Arik, Alex Muzio, Lesly Miculicich, Satya Gundabathula, Pengcheng Yin, Hanjun Dai, Hootan Nakhost, Rajarishi Sinha, Zifeng Wang, Tomas Pfister: </a:t>
            </a:r>
            <a:r>
              <a:rPr lang="en-US" sz="1400" b="1" dirty="0">
                <a:latin typeface="Arial Narrow" panose="020B0606020202030204" pitchFamily="34" charset="0"/>
              </a:rPr>
              <a:t>“SQL-PaLM: Improved Large Language Model Adaptation for Text-to-SQL (extended)”, </a:t>
            </a:r>
            <a:r>
              <a:rPr lang="en-US" sz="1400" dirty="0">
                <a:latin typeface="Arial Narrow" panose="020B0606020202030204" pitchFamily="34" charset="0"/>
              </a:rPr>
              <a:t>2023.</a:t>
            </a:r>
          </a:p>
          <a:p>
            <a:pPr marL="571500" indent="-457200" algn="just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en-US" sz="1400" dirty="0">
                <a:latin typeface="Arial Narrow" panose="020B0606020202030204" pitchFamily="34" charset="0"/>
              </a:rPr>
              <a:t>Linyong Nan, Yilun Zhao, Weijin Zou, Narutatsu Ri, Jaesung Tae, Ellen Zhang, Arman Cohan, Dragomir Radev: </a:t>
            </a:r>
            <a:r>
              <a:rPr lang="en-US" sz="1400" b="1" dirty="0">
                <a:latin typeface="Arial Narrow" panose="020B0606020202030204" pitchFamily="34" charset="0"/>
              </a:rPr>
              <a:t>“Enhancing Text-to-SQL Capabilities of Large Language Models: A Study on Prompt Design Strategies”, </a:t>
            </a:r>
            <a:r>
              <a:rPr lang="en-US" sz="1400" dirty="0">
                <a:latin typeface="Arial Narrow" panose="020B0606020202030204" pitchFamily="34" charset="0"/>
              </a:rPr>
              <a:t>Findings of ACL/EMNLP 2023.</a:t>
            </a:r>
          </a:p>
          <a:p>
            <a:pPr marL="628650" indent="-514350" algn="just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en-US" sz="1400" dirty="0">
                <a:latin typeface="Arial Narrow" panose="020B0606020202030204" pitchFamily="34" charset="0"/>
              </a:rPr>
              <a:t>Chang Gao, Bowen Li, Wenxuan Zhang, Wai Lam, Binhua Li, Fei Huang, Luo Si, Yongbin Li: </a:t>
            </a:r>
            <a:r>
              <a:rPr lang="en-US" sz="1400" b="1" dirty="0">
                <a:latin typeface="Arial Narrow" panose="020B0606020202030204" pitchFamily="34" charset="0"/>
              </a:rPr>
              <a:t>“Towards Generalizable and Robust Text-to-SQL Parsing”, </a:t>
            </a:r>
            <a:r>
              <a:rPr lang="en-US" sz="1400" dirty="0">
                <a:latin typeface="Arial Narrow" panose="020B0606020202030204" pitchFamily="34" charset="0"/>
              </a:rPr>
              <a:t>Findings of ACL/EMNLP 2022.</a:t>
            </a:r>
          </a:p>
          <a:p>
            <a:pPr marL="571500" indent="-457200" algn="just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en-US" sz="1400" dirty="0">
                <a:latin typeface="Arial Narrow" panose="020B0606020202030204" pitchFamily="34" charset="0"/>
              </a:rPr>
              <a:t>Jun Wang, Patrick Ng, Alexander Hanbo Li, Jiarong Jiang, Zhiguo Wang, Ramesh Nallapati, Bing Xiang, Sudipta Sengupta: </a:t>
            </a:r>
            <a:r>
              <a:rPr lang="en-US" sz="1400" b="1" dirty="0">
                <a:latin typeface="Arial Narrow" panose="020B0606020202030204" pitchFamily="34" charset="0"/>
              </a:rPr>
              <a:t>“Improving text-to-SQL semantic parsing with fine-grained query understanding”, </a:t>
            </a:r>
            <a:r>
              <a:rPr lang="en-US" sz="1400" dirty="0">
                <a:latin typeface="Arial Narrow" panose="020B0606020202030204" pitchFamily="34" charset="0"/>
              </a:rPr>
              <a:t>2022.</a:t>
            </a:r>
          </a:p>
          <a:p>
            <a:pPr marL="571500" indent="-457200" algn="just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en-US" sz="1400" dirty="0">
                <a:latin typeface="Arial Narrow" panose="020B0606020202030204" pitchFamily="34" charset="0"/>
              </a:rPr>
              <a:t>Yujian Gan, Xinyun Chen, Jinxia Xie, Matthew Purver, John R. Woodward, John Drake, Qiaofu Zhang, </a:t>
            </a:r>
            <a:r>
              <a:rPr lang="en-US" sz="1400" b="1" dirty="0">
                <a:latin typeface="Arial Narrow" panose="020B0606020202030204" pitchFamily="34" charset="0"/>
              </a:rPr>
              <a:t>“Making SQL Easier to Infer from Natural Language,” </a:t>
            </a:r>
            <a:r>
              <a:rPr lang="en-US" sz="1400" dirty="0">
                <a:latin typeface="Arial Narrow" panose="020B0606020202030204" pitchFamily="34" charset="0"/>
              </a:rPr>
              <a:t>arXiv preprint, available at https://github.com/ygan/NatSQL, 2021.</a:t>
            </a:r>
          </a:p>
          <a:p>
            <a:pPr marL="571500" indent="-457200" algn="just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en-US" sz="1400" dirty="0">
                <a:latin typeface="Arial Narrow" panose="020B0606020202030204" pitchFamily="34" charset="0"/>
              </a:rPr>
              <a:t>Bailin Wang, Richard Shin, Xiaodong Liu, Oleksandr Polozov, Matthew Richardson, </a:t>
            </a:r>
            <a:r>
              <a:rPr lang="en-US" sz="1400" b="1" dirty="0">
                <a:latin typeface="Arial Narrow" panose="020B0606020202030204" pitchFamily="34" charset="0"/>
              </a:rPr>
              <a:t>“RAT-SQL: Relation-Aware Schema Encoding and Linking for Text-to-SQL Parsers,” </a:t>
            </a:r>
            <a:r>
              <a:rPr lang="en-US" sz="1400" dirty="0">
                <a:latin typeface="Arial Narrow" panose="020B0606020202030204" pitchFamily="34" charset="0"/>
              </a:rPr>
              <a:t>Proceedings of the 58th Annual Meeting of the Association for Computational Linguistics (ACL), 2020.</a:t>
            </a:r>
          </a:p>
          <a:p>
            <a:pPr marL="571500" indent="-457200" algn="just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en-US" sz="1400" dirty="0">
                <a:latin typeface="Arial Narrow" panose="020B0606020202030204" pitchFamily="34" charset="0"/>
              </a:rPr>
              <a:t>Hyeonji Kim, Byeong-Hoon So, Wook-Shin Han, Hongrae Lee, </a:t>
            </a:r>
            <a:r>
              <a:rPr lang="en-US" sz="1400" b="1" dirty="0">
                <a:latin typeface="Arial Narrow" panose="020B0606020202030204" pitchFamily="34" charset="0"/>
              </a:rPr>
              <a:t>“Natural Language to SQL: Where are we today?”</a:t>
            </a:r>
            <a:r>
              <a:rPr lang="en-US" sz="1400" dirty="0">
                <a:latin typeface="Arial Narrow" panose="020B0606020202030204" pitchFamily="34" charset="0"/>
              </a:rPr>
              <a:t> Proceedings of the VLDB Endowment (PVLDB), Volume 13, No. 10, 2020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765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572000" y="3167390"/>
            <a:ext cx="4572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2800"/>
            </a:pPr>
            <a:r>
              <a:rPr lang="en-GB" sz="4400" b="1" dirty="0">
                <a:latin typeface="Arial Narrow" panose="020B0606020202030204" pitchFamily="34" charset="0"/>
                <a:sym typeface="Times New Roman"/>
              </a:rPr>
              <a:t>THANK</a:t>
            </a:r>
            <a:r>
              <a:rPr lang="en-GB" sz="4400" dirty="0">
                <a:latin typeface="Arial Narrow" panose="020B0606020202030204" pitchFamily="34" charset="0"/>
                <a:sym typeface="Times New Roman"/>
              </a:rPr>
              <a:t> </a:t>
            </a:r>
            <a:r>
              <a:rPr lang="en-GB" sz="4400" b="1" dirty="0">
                <a:latin typeface="Arial Narrow" panose="020B0606020202030204" pitchFamily="34" charset="0"/>
                <a:sym typeface="Times New Roman"/>
              </a:rPr>
              <a:t>YOU</a:t>
            </a:r>
            <a:endParaRPr lang="en-US" sz="44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550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1444</Words>
  <Application>Microsoft Office PowerPoint</Application>
  <PresentationFormat>Widescreen</PresentationFormat>
  <Paragraphs>164</Paragraphs>
  <Slides>22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 Narrow</vt:lpstr>
      <vt:lpstr>Arial</vt:lpstr>
      <vt:lpstr>Times New Roman</vt:lpstr>
      <vt:lpstr>Calibri</vt:lpstr>
      <vt:lpstr>Office Theme</vt:lpstr>
      <vt:lpstr>Acrobat Document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1. Database Module</vt:lpstr>
      <vt:lpstr>2. User Interface Module</vt:lpstr>
      <vt:lpstr>3. Analyze Module</vt:lpstr>
      <vt:lpstr>4.NLP to SQL Module</vt:lpstr>
      <vt:lpstr>5. CRUD Module</vt:lpstr>
      <vt:lpstr>TECHNOLOGY USED</vt:lpstr>
      <vt:lpstr>IMPLEMENTATION OF MODULES</vt:lpstr>
      <vt:lpstr>IMPLEMENTATION</vt:lpstr>
      <vt:lpstr>IMPLEMENTATION</vt:lpstr>
      <vt:lpstr>OUTPUT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LOGESHWARAN P</cp:lastModifiedBy>
  <cp:revision>52</cp:revision>
  <dcterms:modified xsi:type="dcterms:W3CDTF">2025-10-29T04:49:33Z</dcterms:modified>
</cp:coreProperties>
</file>